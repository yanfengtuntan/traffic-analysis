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0c2cf054cc4bf9" /><Relationship Type="http://schemas.openxmlformats.org/officeDocument/2006/relationships/extended-properties" Target="/docProps/app.xml" Id="Rd629381baac6453c" /><Relationship Type="http://schemas.openxmlformats.org/officeDocument/2006/relationships/officeDocument" Target="/ppt/presentation.xml" Id="R4580c578570f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7ffb314fde450b"/>
  </p:sldMasterIdLst>
  <p:notesMasterIdLst>
    <p:notesMasterId xmlns:r="http://schemas.openxmlformats.org/officeDocument/2006/relationships" r:id="R06cba04baece4e32"/>
  </p:notesMasterIdLst>
  <p:sldIdLst>
    <p:sldId xmlns:r="http://schemas.openxmlformats.org/officeDocument/2006/relationships" id="256" r:id="Read18139ca6346dd"/>
    <p:sldId xmlns:r="http://schemas.openxmlformats.org/officeDocument/2006/relationships" id="257" r:id="R057695ac2cd34bda"/>
    <p:sldId xmlns:r="http://schemas.openxmlformats.org/officeDocument/2006/relationships" id="258" r:id="R3b75851732cc4fd4"/>
    <p:sldId xmlns:r="http://schemas.openxmlformats.org/officeDocument/2006/relationships" id="259" r:id="R19571e5eabd5491d"/>
    <p:sldId xmlns:r="http://schemas.openxmlformats.org/officeDocument/2006/relationships" id="260" r:id="R68222409af1b48f8"/>
    <p:sldId xmlns:r="http://schemas.openxmlformats.org/officeDocument/2006/relationships" id="261" r:id="R2823ac06c3674485"/>
    <p:sldId xmlns:r="http://schemas.openxmlformats.org/officeDocument/2006/relationships" id="262" r:id="R625b65538e4546ee"/>
    <p:sldId xmlns:r="http://schemas.openxmlformats.org/officeDocument/2006/relationships" id="263" r:id="Rfbb386fb610b4c1f"/>
    <p:sldId xmlns:r="http://schemas.openxmlformats.org/officeDocument/2006/relationships" id="264" r:id="Rf916ece41ff34d1f"/>
    <p:sldId xmlns:r="http://schemas.openxmlformats.org/officeDocument/2006/relationships" id="265" r:id="Rae43d588a80742bd"/>
    <p:sldId xmlns:r="http://schemas.openxmlformats.org/officeDocument/2006/relationships" id="266" r:id="Rfbe51e56f3ae41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ef04c41e334d3d" /><Relationship Type="http://schemas.openxmlformats.org/officeDocument/2006/relationships/slideMaster" Target="/ppt/slideMasters/slideMaster1.xml" Id="Rf27ffb314fde450b" /><Relationship Type="http://schemas.openxmlformats.org/officeDocument/2006/relationships/notesMaster" Target="/ppt/notesMasters/notesMaster1.xml" Id="R06cba04baece4e32" /><Relationship Type="http://schemas.openxmlformats.org/officeDocument/2006/relationships/presProps" Target="/ppt/presProps.xml" Id="Rb7c1eb57ca2141a0" /><Relationship Type="http://schemas.openxmlformats.org/officeDocument/2006/relationships/tableStyles" Target="/ppt/tableStyles.xml" Id="Rc01454c6858948c9" /><Relationship Type="http://schemas.openxmlformats.org/officeDocument/2006/relationships/slide" Target="/ppt/slides/slide1.xml" Id="Read18139ca6346dd" /><Relationship Type="http://schemas.openxmlformats.org/officeDocument/2006/relationships/slide" Target="/ppt/slides/slide2.xml" Id="R057695ac2cd34bda" /><Relationship Type="http://schemas.openxmlformats.org/officeDocument/2006/relationships/slide" Target="/ppt/slides/slide3.xml" Id="R3b75851732cc4fd4" /><Relationship Type="http://schemas.openxmlformats.org/officeDocument/2006/relationships/slide" Target="/ppt/slides/slide4.xml" Id="R19571e5eabd5491d" /><Relationship Type="http://schemas.openxmlformats.org/officeDocument/2006/relationships/slide" Target="/ppt/slides/slide5.xml" Id="R68222409af1b48f8" /><Relationship Type="http://schemas.openxmlformats.org/officeDocument/2006/relationships/slide" Target="/ppt/slides/slide6.xml" Id="R2823ac06c3674485" /><Relationship Type="http://schemas.openxmlformats.org/officeDocument/2006/relationships/slide" Target="/ppt/slides/slide7.xml" Id="R625b65538e4546ee" /><Relationship Type="http://schemas.openxmlformats.org/officeDocument/2006/relationships/slide" Target="/ppt/slides/slide8.xml" Id="Rfbb386fb610b4c1f" /><Relationship Type="http://schemas.openxmlformats.org/officeDocument/2006/relationships/slide" Target="/ppt/slides/slide9.xml" Id="Rf916ece41ff34d1f" /><Relationship Type="http://schemas.openxmlformats.org/officeDocument/2006/relationships/slide" Target="/ppt/slides/slide10.xml" Id="Rae43d588a80742bd" /><Relationship Type="http://schemas.openxmlformats.org/officeDocument/2006/relationships/slide" Target="/ppt/slides/slide11.xml" Id="Rfbe51e56f3ae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6e137f943f4b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01bba794bc40d6" /><Relationship Type="http://schemas.openxmlformats.org/officeDocument/2006/relationships/notesMaster" Target="/ppt/notesMasters/notesMaster1.xml" Id="R061f81b3f7ef42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aaa4f80b124743" /><Relationship Type="http://schemas.openxmlformats.org/officeDocument/2006/relationships/notesMaster" Target="/ppt/notesMasters/notesMaster1.xml" Id="R75a5124fa455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95a65c24aa4b62" /><Relationship Type="http://schemas.openxmlformats.org/officeDocument/2006/relationships/notesMaster" Target="/ppt/notesMasters/notesMaster1.xml" Id="R6518228684a54b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5ea5d831dc4b95" /><Relationship Type="http://schemas.openxmlformats.org/officeDocument/2006/relationships/notesMaster" Target="/ppt/notesMasters/notesMaster1.xml" Id="Ra91a355cbf65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a1165923aa4664" /><Relationship Type="http://schemas.openxmlformats.org/officeDocument/2006/relationships/notesMaster" Target="/ppt/notesMasters/notesMaster1.xml" Id="R39902f65e98044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9fbb61e20949b1" /><Relationship Type="http://schemas.openxmlformats.org/officeDocument/2006/relationships/notesMaster" Target="/ppt/notesMasters/notesMaster1.xml" Id="Rd1d4c59fa14847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64226da466491e" /><Relationship Type="http://schemas.openxmlformats.org/officeDocument/2006/relationships/notesMaster" Target="/ppt/notesMasters/notesMaster1.xml" Id="R78690a993d4b45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a6204274fa40bd" /><Relationship Type="http://schemas.openxmlformats.org/officeDocument/2006/relationships/notesMaster" Target="/ppt/notesMasters/notesMaster1.xml" Id="R5690e2deaa8f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c55938b66f4c63" /><Relationship Type="http://schemas.openxmlformats.org/officeDocument/2006/relationships/notesMaster" Target="/ppt/notesMasters/notesMaster1.xml" Id="R20ccaa20ead04d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fa3f7102c24863" /><Relationship Type="http://schemas.openxmlformats.org/officeDocument/2006/relationships/notesMaster" Target="/ppt/notesMasters/notesMaster1.xml" Id="R7a6c1111684d4f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786d8df9864dab" /><Relationship Type="http://schemas.openxmlformats.org/officeDocument/2006/relationships/notesMaster" Target="/ppt/notesMasters/notesMaster1.xml" Id="R8119e99cc37d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41f9a33f043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38ed0005f4e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2d2659eb045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b85a7db324b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042cd040649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2a5f66da84b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AB7BE0-F93C-4A1C-902D-3B783DBD7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3A679C-2139-4B1A-A0CA-3DAC79D4B7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CF1378-A5EA-4186-ADBC-5F8879005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41E200-531D-4F6B-8A67-2881D2473C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B5D91F-A834-4B0F-9CBB-97A80FF219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FB2209-17E3-4004-959B-DF5037A9E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1FB36C-B4C1-4C79-A23C-F4FC14FF9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74E36E-CB9C-42B2-B609-CAF4301956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ABC914-3845-4B7E-B055-41F91AB72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7EC365-4D6E-4403-8EAF-C085DD4444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ab86bb39b7456f" /><Relationship Type="http://schemas.openxmlformats.org/officeDocument/2006/relationships/slideLayout" Target="/ppt/slideLayouts/slideLayout1.xml" Id="Red9ff32948f04889" /><Relationship Type="http://schemas.openxmlformats.org/officeDocument/2006/relationships/slideLayout" Target="/ppt/slideLayouts/slideLayout2.xml" Id="R07f66074325141b4" /><Relationship Type="http://schemas.openxmlformats.org/officeDocument/2006/relationships/slideLayout" Target="/ppt/slideLayouts/slideLayout3.xml" Id="R22b8aa6e387e4341" /><Relationship Type="http://schemas.openxmlformats.org/officeDocument/2006/relationships/slideLayout" Target="/ppt/slideLayouts/slideLayout4.xml" Id="Rf8ef3f8d4f9b4796" /><Relationship Type="http://schemas.openxmlformats.org/officeDocument/2006/relationships/slideLayout" Target="/ppt/slideLayouts/slideLayout5.xml" Id="Ra2a8662bef3a4abc" /><Relationship Type="http://schemas.openxmlformats.org/officeDocument/2006/relationships/slideLayout" Target="/ppt/slideLayouts/slideLayout6.xml" Id="Ra3d5dec60ddf47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9ff32948f04889"/>
    <p:sldLayoutId xmlns:r="http://schemas.openxmlformats.org/officeDocument/2006/relationships" id="2147483650" r:id="R07f66074325141b4"/>
    <p:sldLayoutId xmlns:r="http://schemas.openxmlformats.org/officeDocument/2006/relationships" id="2147483651" r:id="R22b8aa6e387e4341"/>
    <p:sldLayoutId xmlns:r="http://schemas.openxmlformats.org/officeDocument/2006/relationships" id="2147483652" r:id="Rf8ef3f8d4f9b4796"/>
    <p:sldLayoutId xmlns:r="http://schemas.openxmlformats.org/officeDocument/2006/relationships" id="2147483653" r:id="Ra2a8662bef3a4abc"/>
    <p:sldLayoutId xmlns:r="http://schemas.openxmlformats.org/officeDocument/2006/relationships" id="2147483654" r:id="Ra3d5dec60ddf47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7df4835fb405a" /><Relationship Type="http://schemas.openxmlformats.org/officeDocument/2006/relationships/notesSlide" Target="/ppt/notesSlides/notesSlide1.xml" Id="Rafd0dfbac9c94a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7837e71fb48e0" /><Relationship Type="http://schemas.openxmlformats.org/officeDocument/2006/relationships/notesSlide" Target="/ppt/notesSlides/notesSlide2.xml" Id="R8aa9358c517946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7787bc0f642a6" /><Relationship Type="http://schemas.openxmlformats.org/officeDocument/2006/relationships/notesSlide" Target="/ppt/notesSlides/notesSlide3.xml" Id="Rf9048cef2b76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b8233919f42f2" /><Relationship Type="http://schemas.openxmlformats.org/officeDocument/2006/relationships/notesSlide" Target="/ppt/notesSlides/notesSlide4.xml" Id="Rf83d035be7a6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9654c21cb49a2" /><Relationship Type="http://schemas.openxmlformats.org/officeDocument/2006/relationships/image" Target="/ppt/media/image.jpeg" Id="R72880d815df6467a" /><Relationship Type="http://schemas.openxmlformats.org/officeDocument/2006/relationships/notesSlide" Target="/ppt/notesSlides/notesSlide5.xml" Id="R1896e56a5f7d42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47a0353134d75" /><Relationship Type="http://schemas.openxmlformats.org/officeDocument/2006/relationships/image" Target="/ppt/media/image2.jpeg" Id="Rc97228cdf9204a03" /><Relationship Type="http://schemas.openxmlformats.org/officeDocument/2006/relationships/chart" Target="/ppt/slides/charts/chart1.xml" Id="Rca61132493914666" /><Relationship Type="http://schemas.openxmlformats.org/officeDocument/2006/relationships/notesSlide" Target="/ppt/notesSlides/notesSlide6.xml" Id="R192236ca7ca543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0c3f7b020b4b66" /><Relationship Type="http://schemas.openxmlformats.org/officeDocument/2006/relationships/notesSlide" Target="/ppt/notesSlides/notesSlide7.xml" Id="R4bf1431aeac043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7296c77494f1d" /><Relationship Type="http://schemas.openxmlformats.org/officeDocument/2006/relationships/notesSlide" Target="/ppt/notesSlides/notesSlide8.xml" Id="R97193fec09a94b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bfd4c3f9c4917" /><Relationship Type="http://schemas.openxmlformats.org/officeDocument/2006/relationships/chart" Target="/ppt/slides/charts/chart2.xml" Id="R44a461d1299d4bc5" /><Relationship Type="http://schemas.openxmlformats.org/officeDocument/2006/relationships/notesSlide" Target="/ppt/notesSlides/notesSlide9.xml" Id="R313b3d76a97248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afd4bf0d24ae8" /><Relationship Type="http://schemas.openxmlformats.org/officeDocument/2006/relationships/notesSlide" Target="/ppt/notesSlides/notesSlide10.xml" Id="R851db453aaec40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50bffbfda43bf" /><Relationship Type="http://schemas.openxmlformats.org/officeDocument/2006/relationships/image" Target="/ppt/media/image3.jpeg" Id="Rc80e9fc027f643b3" /><Relationship Type="http://schemas.openxmlformats.org/officeDocument/2006/relationships/notesSlide" Target="/ppt/notesSlides/notesSlide11.xml" Id="Rda53e4b472cc483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区域数</c:v>
          </c:tx>
          <c:spPr>
            <a:solidFill xmlns:a="http://schemas.openxmlformats.org/drawingml/2006/main">
              <a:srgbClr val="0F766E"/>
            </a:solidFill>
          </c:spPr>
          <c:invertIfNegative val="0"/>
          <c:cat>
            <c:strLit>
              <c:ptCount val="4"/>
              <c:pt idx="0">
                <c:v>模式簇 1</c:v>
              </c:pt>
              <c:pt idx="1">
                <c:v>模式簇 2</c:v>
              </c:pt>
              <c:pt idx="2">
                <c:v>模式簇 3</c:v>
              </c:pt>
              <c:pt idx="3">
                <c:v>模式簇 4</c:v>
              </c:pt>
            </c:strLit>
          </c:cat>
          <c:val>
            <c:numLit>
              <c:formatCode>General</c:formatCode>
              <c:ptCount val="4"/>
              <c:pt idx="0">
                <c:v>45</c:v>
              </c:pt>
              <c:pt idx="1">
                <c:v>33</c:v>
              </c:pt>
              <c:pt idx="2">
                <c:v>66</c:v>
              </c:pt>
              <c:pt idx="3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6302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3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C"/>
        </a:solidFill>
        <a:ln xmlns:a="http://schemas.openxmlformats.org/drawingml/2006/main" w="0">
          <a:solidFill>
            <a:srgbClr val="F7FAFC"/>
          </a:solidFill>
          <a:prstDash val="solid"/>
        </a:ln>
      </c:spPr>
    </c:plotArea>
    <c:plotVisOnly val="1"/>
  </c:chart>
  <c:spPr>
    <a:solidFill xmlns:a="http://schemas.openxmlformats.org/drawingml/2006/main">
      <a:srgbClr val="F7FAFC"/>
    </a:solidFill>
    <a:ln xmlns:a="http://schemas.openxmlformats.org/drawingml/2006/main" w="0">
      <a:solidFill>
        <a:srgbClr val="F7FAF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0F766E"/>
            </a:solidFill>
          </c:spPr>
          <c:invertIfNegative val="0"/>
          <c:cat>
            <c:strLit>
              <c:ptCount val="3"/>
              <c:pt idx="0">
                <c:v>线性回归</c:v>
              </c:pt>
              <c:pt idx="1">
                <c:v>MLP</c:v>
              </c:pt>
              <c:pt idx="2">
                <c:v>持久性基线</c:v>
              </c:pt>
            </c:strLit>
          </c:cat>
          <c:val>
            <c:numLit>
              <c:formatCode>0.0</c:formatCode>
              <c:ptCount val="3"/>
              <c:pt idx="0">
                <c:v>1.294</c:v>
              </c:pt>
              <c:pt idx="1">
                <c:v>1.652</c:v>
              </c:pt>
              <c:pt idx="2">
                <c:v>1.726</c:v>
              </c:pt>
            </c:numLit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7CC0EA"/>
            </a:solidFill>
          </c:spPr>
          <c:invertIfNegative val="0"/>
          <c:cat>
            <c:strLit>
              <c:ptCount val="3"/>
              <c:pt idx="0">
                <c:v>线性回归</c:v>
              </c:pt>
              <c:pt idx="1">
                <c:v>MLP</c:v>
              </c:pt>
              <c:pt idx="2">
                <c:v>持久性基线</c:v>
              </c:pt>
            </c:strLit>
          </c:cat>
          <c:val>
            <c:numLit>
              <c:formatCode>0.0</c:formatCode>
              <c:ptCount val="3"/>
              <c:pt idx="0">
                <c:v>1.683</c:v>
              </c:pt>
              <c:pt idx="1">
                <c:v>2.041</c:v>
              </c:pt>
              <c:pt idx="2">
                <c:v>2.226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6302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3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3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B6F69"/>
                    </a:solidFill>
                    <a:latin typeface="Microsoft YaHei"/>
                    <a:ea typeface="Microsoft YaHei"/>
                    <a:cs typeface="Microsoft YaHei"/>
                  </a:rPr>
                  <a:t>误差（百万流量值）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B6F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C"/>
        </a:solidFill>
        <a:ln xmlns:a="http://schemas.openxmlformats.org/drawingml/2006/main" w="0">
          <a:solidFill>
            <a:srgbClr val="F7FA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B6F6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AFC"/>
    </a:solidFill>
    <a:ln xmlns:a="http://schemas.openxmlformats.org/drawingml/2006/main" w="0">
      <a:solidFill>
        <a:srgbClr val="F7FAF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4E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E281E-B643-447B-9431-3ADA7788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E80FE-1358-4EE6-9441-938A6873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区域电信流量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分析与预测平台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9209E-412E-4191-B729-717E9FD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rPr>
              <a:t>真实时空数据 · 区域模式聚类 · 多步流量预测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5DB2E-7ED5-43DB-AD25-97CAD66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38200"/>
            <a:ext cx="76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51E55-FCDE-4C31-A465-18222E25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汇报人：____________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学号：____________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班级：____________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76AB5-6EE1-492D-BFBE-C1D5C144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34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43277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F20BD-36AD-49C7-AA24-9D0BD9E5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项目目标与五个模块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DA2E7-1FBD-437E-BC4D-FF756EBA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56473-807B-440A-B32A-3D7153D0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从数据检查到可复现实验管理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841B6-44DE-497D-84B1-0375124C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645AF-0EA6-47C5-8E34-7D4198E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1CF08-7633-4FE3-9B1D-5FAC9202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>
            <a:def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F94F9-6F00-4285-AA3C-77CCDF79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00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在中文界面中查看区域流量的时间变化和空间差异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识别形状相似的区域模式，并谨慎解释聚类结果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构建无数据泄漏的多步预测实验，保存全过程证据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82947-2EED-4062-A176-E0F5770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24375"/>
            <a:ext cx="9429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6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F5ABC-F462-4885-8D59-64727197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952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8E502-65D1-4621-A396-50101883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E3160-DB3B-4067-97FE-17197FE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探索性分析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257EB-D688-4A6E-861D-73F0FB96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曲线与地图联动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8DE65-AD50-45C9-BF8E-20F93300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095750"/>
            <a:ext cx="1952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F45C9-A300-4B1D-9249-C00A6AF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1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C5693-5C03-4D30-8CC6-9571D263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4958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聚类分析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93AF5-F4D0-4DC4-A1C4-EDDF4FB0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5775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K-means / DBSCAN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063AD-FBF6-4297-B756-8D2BDB43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95750"/>
            <a:ext cx="1952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FB42D-3257-4468-BF70-2DE821D1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1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BDFA0-9189-40AB-AF07-983EF0B7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958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预测数据构建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14591-946A-4659-9D83-FAF7E9B0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5775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时间切分与窗口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CE9FF-DD17-4DDC-8F13-B7DCBE6B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95750"/>
            <a:ext cx="1952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14288">
            <a:solidFill>
              <a:srgbClr val="064E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CFBDB-07BF-4F55-8B98-23CF8C4E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0F6CC-A999-4DD0-8408-37F8D384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958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83BFE-A720-4D3B-83BA-9BEFB855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5775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1FAE5"/>
                </a:solidFill>
                <a:latin typeface="Microsoft YaHei"/>
                <a:ea typeface="Microsoft YaHei"/>
                <a:cs typeface="Microsoft YaHei"/>
              </a:rPr>
              <a:t>12 种模型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30659-7FBB-40AC-8245-8F599B30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95750"/>
            <a:ext cx="1952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E3883-5DB0-4ADF-8D50-50CF5AC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>
            <a:def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4B4BC-8CF2-45B0-AD8A-AFF3D50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评估与对比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A3BEB-E54A-4BE2-BA29-909FEFB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5775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公平比较与导出</a:t>
            </a:r>
          </a:p>
        </p:txBody>
      </p:sp>
    </p:spTree>
    <p:extLst>
      <p:ext uri="{BB962C8B-B14F-4D97-AF65-F5344CB8AC3E}">
        <p14:creationId xmlns:p14="http://schemas.microsoft.com/office/powerpoint/2010/main" val="475411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2160B-0F9D-465F-9466-96AAAC8C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三套区域流量数据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299F7-1BAA-408D-9EF2-D2CCFBA8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30A09-2E43-4006-8F58-2CB2A18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每套数据独立分析，不拼接时间序列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E417B-D229-4CDB-A310-5F77FF19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B785A-F2C1-4B23-8296-DBBBD13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6200D-ED83-41F1-9545-53B004289EE6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428750"/>
                <a:gridCol w="1524000"/>
                <a:gridCol w="1619250"/>
                <a:gridCol w="1238250"/>
                <a:gridCol w="2914650"/>
              </a:tblGrid>
              <a:tr h="5524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区域列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时间点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采样间隔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零值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地图区域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Milano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8,928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分钟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Trentino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223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8,928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分钟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223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ZTE（济南）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148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2,784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分钟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735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162（14 个无数据）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08038-14D6-4084-B43A-8121C5A3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6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09F5E-BC5D-46D7-9E76-7D2FDBB0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rPr>
              <a:t>质量核验：时间轴连续，无缺失、重复、非数值或负值。流量物理单位未确认，界面统一标为“流量值”。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24D1E-6109-4822-A94C-A0B12B37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ZTE 含 735 个零值，因此普通 MAPE 不作为主指标。</a:t>
            </a:r>
          </a:p>
        </p:txBody>
      </p:sp>
    </p:spTree>
    <p:extLst>
      <p:ext uri="{BB962C8B-B14F-4D97-AF65-F5344CB8AC3E}">
        <p14:creationId xmlns:p14="http://schemas.microsoft.com/office/powerpoint/2010/main" val="1726052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63BDE-832D-4280-9323-24F212F7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系统结构与数据流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D3447-451E-4D46-AB1E-ABB3D114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94666-F204-45B4-8A8F-47A6EFB3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Python + Streamlit，本地运行并保留可部署路径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779EE-2494-421A-9755-E32E43B5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AD76E-DBBB-496B-A54A-F8B67D4E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11876-2BC9-45D1-8614-32F2471B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0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1073A-61F1-4D68-A99F-3F4D6289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>
            <a:def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D3B77-7FD2-42B0-A221-75FE1E5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>
            <a:def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CSV + GeoJSON</a:t>
            </a:r>
          </a:p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三套数据独立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68317-A38E-4514-B950-12037BF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209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9359D-A170-43B8-850F-11AB17A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288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>
            <a:def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统一数据层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E5F83-BDE7-4386-8BED-DC1DEC8D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>
            <a:def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字段标准化</a:t>
            </a:r>
          </a:p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缓存与质量检查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D022D-8919-46E2-8DBF-8C82606A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668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F8C53-0157-42E0-A172-EEEE7296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>
            <a:def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分析与聚类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65F65-B441-44BA-9381-B06B8CAD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>
            <a:def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动态聚合</a:t>
            </a:r>
          </a:p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K-means / DBSCAN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C9388-622B-45FA-9123-2376979C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98175-6CB9-46B9-B78B-8DD7BDE6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62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>
            <a:def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预测引擎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3FAB3-D526-4AE2-91CC-E5BE158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433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750"/>
          </a:bodyPr>
          <a:lstStyle xmlns:a="http://schemas.openxmlformats.org/drawingml/2006/main">
            <a:def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滑动窗口</a:t>
            </a:r>
          </a:p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传统模型 / ARIMA / 神经网络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2534B-0A74-4CD3-85E9-6B6AE73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5E6861-392F-4BAF-88FE-D175FB76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288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>
            <a:def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Streamlit 与实验库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9588F-C8DE-4C63-8A8A-D0D9FE7A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>
            <a:def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中文交互界面</a:t>
            </a:r>
          </a:p>
          <a:p xmlns:a="http://schemas.openxmlformats.org/drawingml/2006/main">
            <a:pPr algn="ctr">
              <a:def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JSONL + CSV 持久保存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AF12A-6488-48ED-87C2-A0E0A86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289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248EF-2CC4-46B9-8AD7-C890F92B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76B97-95EB-4042-94DC-CFDDD4AC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6235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F1D07-3747-4A96-9A14-066FE603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DC514-F781-4EE9-A8F9-0D33F352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7668B-ADBA-4A2A-9F18-A705A65C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0" cy="12382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C76E7-E11E-427A-A68B-7BA581CA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9067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6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9791EE-9C70-4A30-8E2B-98E1FAAF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33950"/>
            <a:ext cx="872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rPr>
              <a:t>地图和图表始终从当前筛选后的 CSV 重新计算。实验库保存参数、时间范围、预测明细、耗时和指标。</a:t>
            </a:r>
          </a:p>
        </p:txBody>
      </p:sp>
    </p:spTree>
    <p:extLst>
      <p:ext uri="{BB962C8B-B14F-4D97-AF65-F5344CB8AC3E}">
        <p14:creationId xmlns:p14="http://schemas.microsoft.com/office/powerpoint/2010/main" val="756693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4AF88-7BF2-40C3-92B2-4A53F8B7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探索性分析与地图联动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2F95D-FCB8-4BF5-BE8B-0A6B041A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9D38C-D97B-47A1-AC4F-4B637162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区域、时间范围和聚合方式共同驱动所有视图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7AC89-6B9A-4F5E-8BE3-300E4D5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19018-B532-4F82-B51F-6AB860C1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352B6-D049-4D89-97FE-620C27599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80d815df6467a"/>
          <a:stretch xmlns:a="http://schemas.openxmlformats.org/drawingml/2006/main"/>
        </p:blipFill>
        <p:spPr>
          <a:xfrm xmlns:a="http://schemas.openxmlformats.org/drawingml/2006/main">
            <a:off x="5000625" y="1904107"/>
            <a:ext cx="6505575" cy="3659386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2F34D-1A5E-4592-89D1-7DD366B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真实 temporal dynamics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13C4F-DEAE-4141-AA59-F328C34B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81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区域时间曲线展示 15 分钟或 10 分钟粒度变化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日内和每周模式由当前时段重新聚合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三套数据可切换，但不混合时间序列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6BE3B-91AC-4E3F-ACD1-1DCEA1D7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真实 spatial dynamics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E877E-07E8-40C3-A5F1-B4F786BA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地图数值来自所选时间范围的 CSV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济南 14 个无数据区域以灰色显示</a:t>
            </a:r>
          </a:p>
        </p:txBody>
      </p:sp>
    </p:spTree>
    <p:extLst>
      <p:ext uri="{BB962C8B-B14F-4D97-AF65-F5344CB8AC3E}">
        <p14:creationId xmlns:p14="http://schemas.microsoft.com/office/powerpoint/2010/main" val="1805166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EAE4D-6611-4F26-9505-4FA25FCC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区域时间模式聚类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BB789-E63C-4FE8-BF64-B08CC850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4CC34-EFEB-4376-8FFB-2DEE2EB6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默认 ZTE 日内模式，K-means，K=4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7DC3A-978A-44A5-A7A9-5B52D9F1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DDBA0-4CA6-4C17-8459-0D22C329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96720-1FED-4856-AC72-699D844C8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228cdf9204a03"/>
          <a:stretch xmlns:a="http://schemas.openxmlformats.org/drawingml/2006/main"/>
        </p:blipFill>
        <p:spPr>
          <a:xfrm xmlns:a="http://schemas.openxmlformats.org/drawingml/2006/main">
            <a:off x="686858" y="1524000"/>
            <a:ext cx="6570133" cy="3695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975ABBF-976E-4EF6-8D2B-328FD88B785B}"/>
              </a:ext>
            </a:extLst>
          </p:cNvPr>
          <p:cNvGraphicFramePr/>
          <p:nvPr/>
        </p:nvGraphicFramePr>
        <p:xfrm>
          <a:off xmlns:a="http://schemas.openxmlformats.org/drawingml/2006/main" x="7658100" y="1657350"/>
          <a:ext xmlns:a="http://schemas.openxmlformats.org/drawingml/2006/main" cx="36957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6113249391466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3290E-44CD-4CD2-9418-370E4E31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53075"/>
            <a:ext cx="990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6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BE6AC-A079-47DC-80E7-7E640B5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29275"/>
            <a:ext cx="956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轮廓系数 0.186。聚类只描述曲线形状，没有真实标签时不直接解释为办公区或居住区。</a:t>
            </a:r>
          </a:p>
        </p:txBody>
      </p:sp>
    </p:spTree>
    <p:extLst>
      <p:ext uri="{BB962C8B-B14F-4D97-AF65-F5344CB8AC3E}">
        <p14:creationId xmlns:p14="http://schemas.microsoft.com/office/powerpoint/2010/main" val="1719963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6DB9F-F1E5-4F9D-BADC-80564A71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无数据泄漏的预测数据构建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AE056-4F33-48BA-A8E6-CF447DA5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0B581-7AE2-49BD-BA73-1F698CE3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ZTE 默认输入 96 点（24 小时），输出 4 点（1 小时）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85EB3-A5C0-40CC-9B07-8368BF0D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2D699-BF5E-4768-9642-CE63A670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EC8C9-A588-452D-A049-470D58DE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57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F2FD9-C3C6-4D28-8F2D-01A34AF1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训练集 · 20 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D868D-18F8-4A0A-9616-DEC19BDA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缩放器只在此处拟合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0B714-BA12-44C3-834E-4EF4F1E8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381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BD581-E96D-4F7B-9B7E-84D629C9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488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 · 4 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A961B-1A41-4C05-BC1D-6E594937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38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81135-6FDD-44A9-BD27-BB39699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333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EA593-7399-4A38-A0E7-AA8F8273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测试集 · 5 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59056-B0BC-4575-B027-23C6D61A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384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CB2C5-35A5-4672-9944-EDD0EC1C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滑动窗口样本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06D8C-D8FA-4B26-A3E9-5E3D3233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666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977C7-62CB-4B89-AB15-5F7EC1D1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rPr>
              <a:t>输入窗口：过去 96 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97A54-2765-44CB-A1CF-C1C8C8C7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3333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35A62-A07E-49E4-B3C1-CF463BB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预测目标：未来 4 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12FB8-9B8D-42CD-8709-FD6BBEA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验证和测试目标严格落在各自时段内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所有指标在逆缩放后的原始尺度计算</a:t>
            </a:r>
          </a:p>
        </p:txBody>
      </p:sp>
    </p:spTree>
    <p:extLst>
      <p:ext uri="{BB962C8B-B14F-4D97-AF65-F5344CB8AC3E}">
        <p14:creationId xmlns:p14="http://schemas.microsoft.com/office/powerpoint/2010/main" val="169387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8A4F2-0504-42FB-8834-336D5590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12 种预测算法与持久性基线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B2B8D-32EE-4D6B-9295-B53B712D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BD036-B13A-413D-B0F2-057A7DEB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所有算法执行真实拟合或滚动预测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8027F-7EA9-4027-8B80-03794749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6070E-6ABD-4B74-974A-924DAFE9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F5B1F-160F-4695-9028-90E61032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传统回归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B6184-132E-4CE2-A92B-818C83BE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190750" cy="27813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BBC29-C6CD-452A-835B-38DFEA2B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8478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线性回归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KNN 回归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SVR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决策树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29338-26F9-4553-92A4-79D003C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集成学习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16AED-284E-4587-8173-1CE93A88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2190750" cy="27813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17361-0724-4FE2-8A43-65483CF5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18478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随机森林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Extra Trees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梯度提升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BFB9E-ACF1-4AA2-896A-4B5934ED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38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统计模型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AF596-C5C0-4BA0-953F-8DF92257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33600"/>
            <a:ext cx="2190750" cy="27813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F76DA-4EE0-45B3-B342-4C744BC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8478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ARIMA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滚动状态更新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单独标识预测方式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4A2F0-500E-4476-B5EF-7C90B511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38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神经网络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DD84D-B4BF-4468-993D-66F41385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33600"/>
            <a:ext cx="2190750" cy="27813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4288">
            <a:solidFill>
              <a:srgbClr val="D6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FB8BA-0F42-450D-9048-B04701B4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8478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MLP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1D CNN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LSTM</a:t>
            </a:r>
          </a:p>
          <a:p xmlns:a="http://schemas.openxmlformats.org/drawingml/2006/main">
            <a:pPr algn="ctr">
              <a:def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GRU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74D18-D36C-4C5C-B194-70A57C35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0200"/>
            <a:ext cx="9753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6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74317-6260-4C57-A9B8-FA08DD8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86400"/>
            <a:ext cx="941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rPr>
              <a:t>持久性基线：把输入窗口最后一个真实值重复为未来各步预测。神经网络逐轮显示并保存训练损失和验证损失。</a:t>
            </a:r>
          </a:p>
        </p:txBody>
      </p:sp>
    </p:spTree>
    <p:extLst>
      <p:ext uri="{BB962C8B-B14F-4D97-AF65-F5344CB8AC3E}">
        <p14:creationId xmlns:p14="http://schemas.microsoft.com/office/powerpoint/2010/main" val="15141400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BA98B-9547-4902-9A48-91573D05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已保存实验的公平比较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10AD9-82A7-45B1-9117-B0650851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003E6-54E7-4E25-BFED-FE4C3405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同一数据集、区域、测试区间、窗口长度和预测方式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3E9F5-4AF1-4FD8-B2D2-120CCF30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8FF2A-ECD5-4FCE-A486-9D49FAF4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94F0511-F833-4976-B04F-0026BE572F9A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a461d1299d4bc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43DB5-1B63-4992-BE44-E70A0F4D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>
            <a:def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BB4A0-A81B-4971-B1FA-11081266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>
            <a:def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线性回归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4976A-E52E-4D29-9A32-D82B56B4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MAE 129.4 万</a:t>
            </a:r>
          </a:p>
          <a:p xmlns:a="http://schemas.openxmlformats.org/drawingml/2006/main">
            <a:pPr>
              <a:def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RMSE 168.3 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4F801-340B-4308-BC8C-FB852989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705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在当前三个同条件实验中误差最低。该结论只适用于已保存的测试配置。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9AF86-7052-4052-9518-F1751A84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911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误差指标均使用原始尺度</a:t>
            </a:r>
          </a:p>
        </p:txBody>
      </p:sp>
    </p:spTree>
    <p:extLst>
      <p:ext uri="{BB962C8B-B14F-4D97-AF65-F5344CB8AC3E}">
        <p14:creationId xmlns:p14="http://schemas.microsoft.com/office/powerpoint/2010/main" val="1098109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D3448-0C0E-4DBE-8706-1CB6FC80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评估约束与结果边界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8FDF5-BA55-4B7B-8579-0D83D409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9CA4A-8269-4BE3-B6BB-7D22F60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用明确规则避免常见的时间序列分析错误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41077-7E19-494F-8EAF-90E799D7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3304F-A944-4485-8527-B9DBBE6C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51518-DCB0-4066-B4B9-9CD43212F559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429125"/>
                <a:gridCol w="4200525"/>
              </a:tblGrid>
              <a:tr h="5334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平台处理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结果边界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T w="9525">
                      <a:solidFill>
                        <a:srgbClr val="D6E3DF"/>
                      </a:solidFill>
                      <a:prstDash val="solid"/>
                    </a:lnT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4E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数据泄漏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时间顺序切分，缩放器只拟合训练段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测试目标不进入训练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4E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ZTE 零值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MAE、RMSE 作为主指标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不展示普通 MAPE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4E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地图静态均值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按当前时间范围从 CSV 重新聚合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无数据区域不当作 0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4E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不公平模型比较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匹配区域、区间、窗口和预测方式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ARIMA 单独标识滚动方式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4E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聚类语义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D6E3DF"/>
                      </a:solidFill>
                      <a:prstDash val="solid"/>
                    </a:lnL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仅描述标准化曲线形状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功能区属性只能谨慎推测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D6E3DF"/>
                      </a:solidFill>
                      <a:prstDash val="solid"/>
                    </a:lnR>
                    <a:lnB w="9525">
                      <a:solidFill>
                        <a:srgbClr val="D6E3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949FA-861E-45EE-9174-931E4F7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平台报告发现与限制，不把未知单位、缺失标签或不同预测方式包装成确定结论。</a:t>
            </a:r>
          </a:p>
        </p:txBody>
      </p:sp>
    </p:spTree>
    <p:extLst>
      <p:ext uri="{BB962C8B-B14F-4D97-AF65-F5344CB8AC3E}">
        <p14:creationId xmlns:p14="http://schemas.microsoft.com/office/powerpoint/2010/main" val="1955301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354A5-B3BD-446A-8432-07B39D4A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演示流程与交付状态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943D6-1748-4104-AB18-286358B0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A462B-6E0F-44F0-9AEC-9251F09B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F69"/>
                </a:solidFill>
                <a:latin typeface="Microsoft YaHei"/>
                <a:ea typeface="Microsoft YaHei"/>
                <a:cs typeface="Microsoft YaHei"/>
              </a:rPr>
              <a:t>本地一键启动，完整流程约 6–8 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1E454-EAB2-4CB6-A028-62EB642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人工智能课程 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F0DF8-630D-4EC8-BE07-DF57D9FF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>
            <a:def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DBC77-74C7-402D-83B6-6303BB259A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e9fc027f643b3"/>
          <a:stretch xmlns:a="http://schemas.openxmlformats.org/drawingml/2006/main"/>
        </p:blipFill>
        <p:spPr>
          <a:xfrm xmlns:a="http://schemas.openxmlformats.org/drawingml/2006/main">
            <a:off x="6019800" y="1862138"/>
            <a:ext cx="5486400" cy="308610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5A4A4-D6F0-4569-9EB9-1DDD2255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探索性分析：区域曲线与地图联动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聚类分析：运行 K-means，查看代表曲线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数据构建：说明 96 输入、4 输出和时间切分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预测算法：展示真实训练状态和多步曲线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6302B"/>
                </a:solidFill>
                <a:latin typeface="Microsoft YaHei"/>
                <a:ea typeface="Microsoft YaHei"/>
                <a:cs typeface="Microsoft YaHei"/>
              </a:rPr>
              <a:t>评估对比：核对 MAE、RMSE 和公平条件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67CE1-A8AE-4FFF-A60B-99404C40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6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BF1C0-43FC-430B-8488-3CFD3EA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673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64E3B"/>
                </a:solidFill>
                <a:latin typeface="Microsoft YaHei"/>
                <a:ea typeface="Microsoft YaHei"/>
                <a:cs typeface="Microsoft YaHei"/>
              </a:rPr>
              <a:t>交付内容：完整源代码、项目内环境、数据报告、运行说明、演示脚本、实验记录与汇报 PPT。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9AF8A-CF2F-4894-B118-CA27B7A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293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提交前仅需补充姓名、学号和班级</a:t>
            </a:r>
          </a:p>
        </p:txBody>
      </p:sp>
    </p:spTree>
    <p:extLst>
      <p:ext uri="{BB962C8B-B14F-4D97-AF65-F5344CB8AC3E}">
        <p14:creationId xmlns:p14="http://schemas.microsoft.com/office/powerpoint/2010/main" val="334716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2026-10-25T14:26:51.8510000Z</dcterms:created>
  <dcterms:modified xsi:type="dcterms:W3CDTF">2026-10-25T14:26:51.8520000Z</dcterms:modified>
</coreProperties>
</file>